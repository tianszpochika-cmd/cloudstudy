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A5E9"/>
                </a:solidFill>
              </a:defRPr>
            </a:pPr>
            <a:r>
              <a:t>ENGLISHFLOW PRODUCT &amp; BUSINESS BLUEPRINT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EnglishFlow 全栈 AI 英语学习系统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产品全景需求 · 商业模式定价 · 云资源算力开销 · 深圳落地与合规风控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矩阵覆盖: 微信小程序 · iOS/Android App · Web端 · 官网 · 运营中台 | 核心引擎: LLM + 实时WebRTC + 3D数字人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01. 产品定位与架构设计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产品全景架构与全端矩阵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多端协同矩阵 (Apps)</a:t>
            </a:r>
          </a:p>
          <a:p>
            <a:pPr>
              <a:spcBef>
                <a:spcPts val="200"/>
              </a:spcBef>
              <a:defRPr sz="950" b="1">
                <a:solidFill>
                  <a:srgbClr val="2563EB"/>
                </a:solidFill>
              </a:defRPr>
            </a:pPr>
            <a:r>
              <a:t>MULTI-PLATFORM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微信小程序: 碎片打卡与词汇记忆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iOS / Android: WebRTC 实时音视频数字人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Learner Web: 语法树分析与模考精批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Official Web: 品牌官网与 SEO 获客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Admin Web: 教研排课、Prompt 管理与合规中台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核心微服务群 (Services)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MODULAR BACKEND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core-api: 用户鉴权、会员订单、战队系统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ai-orchestrator: Prompt 路由、作文批改、语法解析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realtime-voice: &lt;800ms 流式 ASR/TTS/RTC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content-worker: 教材向量化、RAG 检索与题库更新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通用底层引擎 (Packages &amp; DB)</a:t>
            </a:r>
          </a:p>
          <a:p>
            <a:pPr>
              <a:spcBef>
                <a:spcPts val="200"/>
              </a:spcBef>
              <a:defRPr sz="950" b="1">
                <a:solidFill>
                  <a:srgbClr val="8B5CF6"/>
                </a:solidFill>
              </a:defRPr>
            </a:pPr>
            <a:r>
              <a:t>FOUNDATION &amp; KNOWLEDGE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记忆引擎: 改进版 SM-2 + 艾宾浩斯动态调度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知识图谱: 12,000+ 词汇与 800+ 语法拓扑树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安全围栏: 双向内容过滤与权威语法锚定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数据存储: PG Relational + Qdrant 向量检索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02. PHASE 1 · K12 中小学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第一阶段：中小学启蒙与教材同步体系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自然拼读与音标</a:t>
            </a:r>
          </a:p>
          <a:p>
            <a:pPr>
              <a:spcBef>
                <a:spcPts val="200"/>
              </a:spcBef>
              <a:defRPr sz="950" b="1">
                <a:solidFill>
                  <a:srgbClr val="2563EB"/>
                </a:solidFill>
              </a:defRPr>
            </a:pPr>
            <a:r>
              <a:t>PHONICS &amp; IPA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48个国际音标 3D 口腔图解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音素级发音评测与重音纠偏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Phonics 自然拼读法则树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220个高频词 Sight Words 动画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主流教材逐课同步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TEXTBOOK SYNCHRONIZATION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覆盖人教/牛津/外研/北京等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小学一年级至初三全学期覆盖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逐课四维: 单词/课文/语法/自测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角色扮演 AI 智能分角色对练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卡通数字人伴学</a:t>
            </a:r>
          </a:p>
          <a:p>
            <a:pPr>
              <a:spcBef>
                <a:spcPts val="200"/>
              </a:spcBef>
              <a:defRPr sz="950" b="1">
                <a:solidFill>
                  <a:srgbClr val="F97316"/>
                </a:solidFill>
              </a:defRPr>
            </a:pPr>
            <a:r>
              <a:t>CARTOON AI COMPANION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魔法猫咪/机器人等卡通 IP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&lt;800ms 低延迟语音自然通话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支持随时插话与自然打断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少儿安全词汇合规严控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趣味游戏与战队</a:t>
            </a:r>
          </a:p>
          <a:p>
            <a:pPr>
              <a:spcBef>
                <a:spcPts val="200"/>
              </a:spcBef>
              <a:defRPr sz="950" b="1">
                <a:solidFill>
                  <a:srgbClr val="8B5CF6"/>
                </a:solidFill>
              </a:defRPr>
            </a:pPr>
            <a:r>
              <a:t>GAMIFICATION &amp; SQUADS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031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单词保卫战/拼装火车等轻游戏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3-6 人学习小队共育能量树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组内天梯排位赛与跨队周考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全英留言板与语法实时纠错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03. PHASE 2 · 高中与大学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第二阶段：高中与大学学术突破体系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抗焦虑与微学习</a:t>
            </a:r>
          </a:p>
          <a:p>
            <a:pPr>
              <a:spcBef>
                <a:spcPts val="200"/>
              </a:spcBef>
              <a:defRPr sz="950" b="1">
                <a:solidFill>
                  <a:srgbClr val="2563EB"/>
                </a:solidFill>
              </a:defRPr>
            </a:pPr>
            <a:r>
              <a:t>ANTI-ANXIETY &amp; IMMERSION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5-8分钟番茄高能微课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暗黑极简纯净刷题模式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高考侦探剧情逆袭任务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AI 考前心理疏导与正向暗示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语法树与长难句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SYNTAX TREE &amp; X-RAY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长难句即时结构树拆解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从句/非谓语动词智能高亮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错题动态红点弱项图谱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自适应推送同类考点变式题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高考提分与机考</a:t>
            </a:r>
          </a:p>
          <a:p>
            <a:pPr>
              <a:spcBef>
                <a:spcPts val="200"/>
              </a:spcBef>
              <a:defRPr sz="950" b="1">
                <a:solidFill>
                  <a:srgbClr val="F97316"/>
                </a:solidFill>
              </a:defRPr>
            </a:pPr>
            <a:r>
              <a:t>GAOKAO ESSAY &amp; SPEAKING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读后续写 AI 三阶词句升格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倒装句/独立主格高级句型注入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广东/北京等各省听说机考模考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全真题型与官方机考评分标准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四六级/考研/学术</a:t>
            </a:r>
          </a:p>
          <a:p>
            <a:pPr>
              <a:spcBef>
                <a:spcPts val="200"/>
              </a:spcBef>
              <a:defRPr sz="950" b="1">
                <a:solidFill>
                  <a:srgbClr val="8B5CF6"/>
                </a:solidFill>
              </a:defRPr>
            </a:pPr>
            <a:r>
              <a:t>COLLEGE &amp;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031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四六级无损变速与听写挖空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考研手译本英汉采分点比对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考研复试英语面试多专业模拟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外企 STAR 面试与 SCI 润色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04. PHASE 3 · 职场与出海留学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第三阶段：职场商务、出海实战与留学考培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职场与跨国商务实战</a:t>
            </a:r>
          </a:p>
          <a:p>
            <a:pPr>
              <a:spcBef>
                <a:spcPts val="200"/>
              </a:spcBef>
              <a:defRPr sz="950" b="1">
                <a:solidFill>
                  <a:srgbClr val="2563EB"/>
                </a:solidFill>
              </a:defRPr>
            </a:pPr>
            <a:r>
              <a:t>GLOBAL BUSINESS &amp;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全场景国际会议模拟（美/英/印/新口音）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跨境谈判沙盒：价格博弈与交期索赔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邮件即时润色：正式/委婉/坚定/简短4档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行业术语库：跨境电商、外贸、科技金融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海外生存与文化沉浸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OVERSEAS SURVIVAL SANDBOX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全真沙盒：海关盘问/租房签约/就医急诊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突发应对：银行开户/餐厅退换菜等实景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跨文化交际避坑：Small Talk 社交边界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海外地道俚语与文化禁忌指引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雅思/托福高分冲刺</a:t>
            </a:r>
          </a:p>
          <a:p>
            <a:pPr>
              <a:spcBef>
                <a:spcPts val="200"/>
              </a:spcBef>
              <a:defRPr sz="950" b="1">
                <a:solidFill>
                  <a:srgbClr val="8B5CF6"/>
                </a:solidFill>
              </a:defRPr>
            </a:pPr>
            <a:r>
              <a:t>IELTS &amp; TOEFL OFFICIAL MOCK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当季口语换题库每周实时同步更新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官方4维诊断：流利度/词汇/语法/发音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大小作文智能精批与中式英语重写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全真倒计时机考考场还原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05. 商业模式与经济测算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商业化模式与云资源成本测算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阶梯会员体系与定价 (Pricing Tiers)</a:t>
            </a:r>
          </a:p>
          <a:p>
            <a:pPr>
              <a:spcBef>
                <a:spcPts val="200"/>
              </a:spcBef>
              <a:defRPr sz="950" b="1">
                <a:solidFill>
                  <a:srgbClr val="2563EB"/>
                </a:solidFill>
              </a:defRPr>
            </a:pPr>
            <a:r>
              <a:t>COMMERCIALIZATION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7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免费版 (¥0): 1本教材 + 每日5分钟数字人体验 + 基础自测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基础版 (¥29/月, 年费¥268): 全教材 + 每日30分通话 + 语法树 + 读后续写批改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尊享版 (¥88/月, 年费¥698): 无限通话 + 雅思托福精批 + SCI/商务沙盒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企业/机构版 (¥199-399/人/年): 机构定制助教 + 批量题库与学情导出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云资源与 AI 算力支出 (5,000 DAU 测算)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MONTHLY UNIT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固定基础: 域名证书 + ECS*2 + RDS + Redis + OSS + 短信 ≈ ¥3,610/月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AI 动态: 3000万 Tokens + 2500小时 ASR + 1500万字 TTS + RTC ≈ ¥5,250/月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渠道年费: Apple ($99) + Google Play ($25) + 微信认证 (¥300) ≈ ¥1,200/年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单用户服务成本: 动态算力单月成本低至 ¥1.05 / 活跃用户，毛利空间健康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06. 公司建设与合规风控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深圳公司落地、法定资质与合规风控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深圳落地与主体设立</a:t>
            </a:r>
          </a:p>
          <a:p>
            <a:pPr>
              <a:spcBef>
                <a:spcPts val="200"/>
              </a:spcBef>
              <a:defRPr sz="950" b="1">
                <a:solidFill>
                  <a:srgbClr val="2563EB"/>
                </a:solidFill>
              </a:defRPr>
            </a:pPr>
            <a:r>
              <a:t>SHENZHEN COMPANY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选址推荐: 南山区高新园 或 前海深港合作区 (享双15%税收优惠)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经营范围: 软件开发、AI基础软件开发、网络安全、留学咨询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资本建议: 认缴 100万 - 500万元，开立本地银行基本户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国内全套牌照清单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REGULATORY LICENSES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ICP 备案 (广东通管局 / 7-14天)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增值电信业务许可证 ICP/EDI (线上付费必备)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生成式人工智能服务备案 (国家网信办)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深度合成服务算法备案 (数字人/语音克隆)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公安联网备案 (上线30日内) + 软件著作权 (安卓上架)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四大核心风控与避坑</a:t>
            </a:r>
          </a:p>
          <a:p>
            <a:pPr>
              <a:spcBef>
                <a:spcPts val="200"/>
              </a:spcBef>
              <a:defRPr sz="950" b="1">
                <a:solidFill>
                  <a:srgbClr val="8B5CF6"/>
                </a:solidFill>
              </a:defRPr>
            </a:pPr>
            <a:r>
              <a:t>RISK MITIGATION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双减政策: 定位 AI 辅助工具，禁用名师/提分包过宣传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教材版权: 知识点结构化提取，商业化获取官方电子授权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未成年保护: 青少年守护模式，限时防沉迷与监护人明示授权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内容安全: 接入天御/阿里安全审核，数字人画面添加合成标识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07. 路线图与实施规划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EnglishFlow 实施路线与交付展望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M1: 基础建设与 K12 (1-2月)</a:t>
            </a:r>
          </a:p>
          <a:p>
            <a:pPr>
              <a:spcBef>
                <a:spcPts val="200"/>
              </a:spcBef>
              <a:defRPr sz="950" b="1">
                <a:solidFill>
                  <a:srgbClr val="0EA5E9"/>
                </a:solidFill>
              </a:defRPr>
            </a:pPr>
            <a:r>
              <a:t>PHASE 1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搭建 Monorepo 与微服务底座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完成人教/牛津主流教材 OCR 入库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完成卡通数字人 WebRTC 通话跑通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上线 2 款拼读游戏与战队打卡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M2: 升学突破与多端 (3-4月)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PHASE 2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上线动态语法树与长难句 X 光机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接入高考读后续写 AI 升格导师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完成微信小程序与 iOS/Android 双端上架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取得 ICP/EDI 牌照并接入合规内容审核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M3: 职场出海与商业化 (5-6月)</a:t>
            </a:r>
          </a:p>
          <a:p>
            <a:pPr>
              <a:spcBef>
                <a:spcPts val="200"/>
              </a:spcBef>
              <a:defRPr sz="950" b="1">
                <a:solidFill>
                  <a:srgbClr val="8B5CF6"/>
                </a:solidFill>
              </a:defRPr>
            </a:pPr>
            <a:r>
              <a:t>PHASE 3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上线国际商务谈判与外企 STAR 面试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集成雅思/托福官方多维评分与题库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开启会员付费与机构定制推广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构建完整的 AI 英语自适应学习闭环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